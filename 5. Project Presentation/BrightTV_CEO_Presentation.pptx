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2172A4-2D91-4ED2-8524-A98D581AD530}" v="10" dt="2026-06-28T23:43:22.1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ynthia Phakela" userId="c8f80bf6c917b871" providerId="LiveId" clId="{F54073B2-9C06-4A55-B0C3-A9FE66167EDA}"/>
    <pc:docChg chg="undo custSel addSld delSld modSld sldOrd">
      <pc:chgData name="Cynthia Phakela" userId="c8f80bf6c917b871" providerId="LiveId" clId="{F54073B2-9C06-4A55-B0C3-A9FE66167EDA}" dt="2026-06-30T18:47:30.252" v="54" actId="2696"/>
      <pc:docMkLst>
        <pc:docMk/>
      </pc:docMkLst>
      <pc:sldChg chg="modSp mod">
        <pc:chgData name="Cynthia Phakela" userId="c8f80bf6c917b871" providerId="LiveId" clId="{F54073B2-9C06-4A55-B0C3-A9FE66167EDA}" dt="2026-06-29T12:49:39.648" v="31" actId="20577"/>
        <pc:sldMkLst>
          <pc:docMk/>
          <pc:sldMk cId="0" sldId="256"/>
        </pc:sldMkLst>
        <pc:spChg chg="mod">
          <ac:chgData name="Cynthia Phakela" userId="c8f80bf6c917b871" providerId="LiveId" clId="{F54073B2-9C06-4A55-B0C3-A9FE66167EDA}" dt="2026-06-29T12:49:39.648" v="31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Cynthia Phakela" userId="c8f80bf6c917b871" providerId="LiveId" clId="{F54073B2-9C06-4A55-B0C3-A9FE66167EDA}" dt="2026-06-29T17:22:25.074" v="47" actId="1076"/>
        <pc:sldMkLst>
          <pc:docMk/>
          <pc:sldMk cId="0" sldId="257"/>
        </pc:sldMkLst>
        <pc:spChg chg="mod">
          <ac:chgData name="Cynthia Phakela" userId="c8f80bf6c917b871" providerId="LiveId" clId="{F54073B2-9C06-4A55-B0C3-A9FE66167EDA}" dt="2026-06-29T17:22:25.074" v="47" actId="1076"/>
          <ac:spMkLst>
            <pc:docMk/>
            <pc:sldMk cId="0" sldId="257"/>
            <ac:spMk id="39" creationId="{00000000-0000-0000-0000-000000000000}"/>
          </ac:spMkLst>
        </pc:spChg>
      </pc:sldChg>
      <pc:sldChg chg="modSp mod">
        <pc:chgData name="Cynthia Phakela" userId="c8f80bf6c917b871" providerId="LiveId" clId="{F54073B2-9C06-4A55-B0C3-A9FE66167EDA}" dt="2026-06-29T17:22:55.687" v="51" actId="14100"/>
        <pc:sldMkLst>
          <pc:docMk/>
          <pc:sldMk cId="0" sldId="258"/>
        </pc:sldMkLst>
        <pc:spChg chg="mod">
          <ac:chgData name="Cynthia Phakela" userId="c8f80bf6c917b871" providerId="LiveId" clId="{F54073B2-9C06-4A55-B0C3-A9FE66167EDA}" dt="2026-06-29T17:22:24.081" v="46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Cynthia Phakela" userId="c8f80bf6c917b871" providerId="LiveId" clId="{F54073B2-9C06-4A55-B0C3-A9FE66167EDA}" dt="2026-06-29T17:22:55.687" v="51" actId="14100"/>
          <ac:spMkLst>
            <pc:docMk/>
            <pc:sldMk cId="0" sldId="258"/>
            <ac:spMk id="5" creationId="{00000000-0000-0000-0000-000000000000}"/>
          </ac:spMkLst>
        </pc:spChg>
      </pc:sldChg>
      <pc:sldChg chg="ord">
        <pc:chgData name="Cynthia Phakela" userId="c8f80bf6c917b871" providerId="LiveId" clId="{F54073B2-9C06-4A55-B0C3-A9FE66167EDA}" dt="2026-06-29T12:49:42.675" v="35" actId="20578"/>
        <pc:sldMkLst>
          <pc:docMk/>
          <pc:sldMk cId="0" sldId="259"/>
        </pc:sldMkLst>
      </pc:sldChg>
      <pc:sldChg chg="ord">
        <pc:chgData name="Cynthia Phakela" userId="c8f80bf6c917b871" providerId="LiveId" clId="{F54073B2-9C06-4A55-B0C3-A9FE66167EDA}" dt="2026-06-29T12:49:43.050" v="36" actId="20578"/>
        <pc:sldMkLst>
          <pc:docMk/>
          <pc:sldMk cId="0" sldId="260"/>
        </pc:sldMkLst>
      </pc:sldChg>
      <pc:sldChg chg="del">
        <pc:chgData name="Cynthia Phakela" userId="c8f80bf6c917b871" providerId="LiveId" clId="{F54073B2-9C06-4A55-B0C3-A9FE66167EDA}" dt="2026-06-30T18:47:21.141" v="52" actId="2696"/>
        <pc:sldMkLst>
          <pc:docMk/>
          <pc:sldMk cId="0" sldId="269"/>
        </pc:sldMkLst>
      </pc:sldChg>
      <pc:sldChg chg="del">
        <pc:chgData name="Cynthia Phakela" userId="c8f80bf6c917b871" providerId="LiveId" clId="{F54073B2-9C06-4A55-B0C3-A9FE66167EDA}" dt="2026-06-30T18:47:26.369" v="53" actId="2696"/>
        <pc:sldMkLst>
          <pc:docMk/>
          <pc:sldMk cId="0" sldId="270"/>
        </pc:sldMkLst>
      </pc:sldChg>
      <pc:sldChg chg="add del">
        <pc:chgData name="Cynthia Phakela" userId="c8f80bf6c917b871" providerId="LiveId" clId="{F54073B2-9C06-4A55-B0C3-A9FE66167EDA}" dt="2026-06-30T18:47:30.252" v="54" actId="2696"/>
        <pc:sldMkLst>
          <pc:docMk/>
          <pc:sldMk cId="0" sldId="271"/>
        </pc:sldMkLst>
      </pc:sldChg>
      <pc:sldChg chg="new del">
        <pc:chgData name="Cynthia Phakela" userId="c8f80bf6c917b871" providerId="LiveId" clId="{F54073B2-9C06-4A55-B0C3-A9FE66167EDA}" dt="2026-06-29T14:12:58.777" v="39" actId="680"/>
        <pc:sldMkLst>
          <pc:docMk/>
          <pc:sldMk cId="309206790" sldId="27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F3E-446A-BCBD-BEFD189C8294}"/>
              </c:ext>
            </c:extLst>
          </c:dPt>
          <c:dPt>
            <c:idx val="1"/>
            <c:invertIfNegative val="0"/>
            <c:bubble3D val="0"/>
            <c:spPr>
              <a:solidFill>
                <a:srgbClr val="F4A0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F3E-446A-BCBD-BEFD189C8294}"/>
              </c:ext>
            </c:extLst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F3E-446A-BCBD-BEFD189C829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162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2203</c:v>
                </c:pt>
                <c:pt idx="1">
                  <c:v>2976</c:v>
                </c:pt>
                <c:pt idx="2">
                  <c:v>4821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F3E-446A-BCBD-BEFD189C82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2FA-4560-8947-3F4BA5D5BD47}"/>
              </c:ext>
            </c:extLst>
          </c:dPt>
          <c:dPt>
            <c:idx val="1"/>
            <c:invertIfNegative val="0"/>
            <c:bubble3D val="0"/>
            <c:spPr>
              <a:solidFill>
                <a:srgbClr val="F4A0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2FA-4560-8947-3F4BA5D5BD47}"/>
              </c:ext>
            </c:extLst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2FA-4560-8947-3F4BA5D5BD47}"/>
              </c:ext>
            </c:extLst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2FA-4560-8947-3F4BA5D5BD47}"/>
              </c:ext>
            </c:extLst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2FA-4560-8947-3F4BA5D5BD47}"/>
              </c:ext>
            </c:extLst>
          </c:dPt>
          <c:dPt>
            <c:idx val="5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2FA-4560-8947-3F4BA5D5BD47}"/>
              </c:ext>
            </c:extLst>
          </c:dPt>
          <c:dPt>
            <c:idx val="6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2FA-4560-8947-3F4BA5D5BD4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162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974</c:v>
                </c:pt>
                <c:pt idx="1">
                  <c:v>1321</c:v>
                </c:pt>
                <c:pt idx="2">
                  <c:v>1539</c:v>
                </c:pt>
                <c:pt idx="3">
                  <c:v>1471</c:v>
                </c:pt>
                <c:pt idx="4">
                  <c:v>1642</c:v>
                </c:pt>
                <c:pt idx="5">
                  <c:v>1655</c:v>
                </c:pt>
                <c:pt idx="6">
                  <c:v>1398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12FA-4560-8947-3F4BA5D5BD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1628"/>
                </a:solidFill>
                <a:latin typeface="Arial"/>
              </a:rPr>
              <a:t>Weekday vs Weekend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Day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08B-45B6-A827-1C0C35EC40EA}"/>
              </c:ext>
            </c:extLst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8B-45B6-A827-1C0C35EC40E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08B-45B6-A827-1C0C35EC40E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08B-45B6-A827-1C0C35EC40E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6947</c:v>
                </c:pt>
                <c:pt idx="1">
                  <c:v>3053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08B-45B6-A827-1C0C35EC40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ln w="2540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00:00</c:v>
                </c:pt>
                <c:pt idx="1">
                  <c:v>01:00</c:v>
                </c:pt>
                <c:pt idx="2">
                  <c:v>02:00</c:v>
                </c:pt>
                <c:pt idx="3">
                  <c:v>03:00</c:v>
                </c:pt>
                <c:pt idx="4">
                  <c:v>04:00</c:v>
                </c:pt>
                <c:pt idx="5">
                  <c:v>05:00</c:v>
                </c:pt>
                <c:pt idx="6">
                  <c:v>06:00</c:v>
                </c:pt>
                <c:pt idx="7">
                  <c:v>07:00</c:v>
                </c:pt>
                <c:pt idx="8">
                  <c:v>08:00</c:v>
                </c:pt>
                <c:pt idx="9">
                  <c:v>09:00</c:v>
                </c:pt>
                <c:pt idx="10">
                  <c:v>10:00</c:v>
                </c:pt>
                <c:pt idx="11">
                  <c:v>11:00</c:v>
                </c:pt>
                <c:pt idx="12">
                  <c:v>12:00</c:v>
                </c:pt>
                <c:pt idx="13">
                  <c:v>13:00</c:v>
                </c:pt>
                <c:pt idx="14">
                  <c:v>14:00</c:v>
                </c:pt>
                <c:pt idx="15">
                  <c:v>15:00</c:v>
                </c:pt>
                <c:pt idx="16">
                  <c:v>16:00</c:v>
                </c:pt>
                <c:pt idx="17">
                  <c:v>17:00</c:v>
                </c:pt>
                <c:pt idx="18">
                  <c:v>18:00</c:v>
                </c:pt>
                <c:pt idx="19">
                  <c:v>19:00</c:v>
                </c:pt>
                <c:pt idx="20">
                  <c:v>20:00</c:v>
                </c:pt>
                <c:pt idx="21">
                  <c:v>21:00</c:v>
                </c:pt>
                <c:pt idx="22">
                  <c:v>22:00</c:v>
                </c:pt>
                <c:pt idx="23">
                  <c:v>23:00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80</c:v>
                </c:pt>
                <c:pt idx="1">
                  <c:v>55</c:v>
                </c:pt>
                <c:pt idx="2">
                  <c:v>49</c:v>
                </c:pt>
                <c:pt idx="3">
                  <c:v>94</c:v>
                </c:pt>
                <c:pt idx="4">
                  <c:v>180</c:v>
                </c:pt>
                <c:pt idx="5">
                  <c:v>298</c:v>
                </c:pt>
                <c:pt idx="6">
                  <c:v>401</c:v>
                </c:pt>
                <c:pt idx="7">
                  <c:v>402</c:v>
                </c:pt>
                <c:pt idx="8">
                  <c:v>541</c:v>
                </c:pt>
                <c:pt idx="9">
                  <c:v>539</c:v>
                </c:pt>
                <c:pt idx="10">
                  <c:v>634</c:v>
                </c:pt>
                <c:pt idx="11">
                  <c:v>568</c:v>
                </c:pt>
                <c:pt idx="12">
                  <c:v>620</c:v>
                </c:pt>
                <c:pt idx="13">
                  <c:v>637</c:v>
                </c:pt>
                <c:pt idx="14">
                  <c:v>627</c:v>
                </c:pt>
                <c:pt idx="15">
                  <c:v>648</c:v>
                </c:pt>
                <c:pt idx="16">
                  <c:v>628</c:v>
                </c:pt>
                <c:pt idx="17">
                  <c:v>647</c:v>
                </c:pt>
                <c:pt idx="18">
                  <c:v>622</c:v>
                </c:pt>
                <c:pt idx="19">
                  <c:v>585</c:v>
                </c:pt>
                <c:pt idx="20">
                  <c:v>498</c:v>
                </c:pt>
                <c:pt idx="21">
                  <c:v>364</c:v>
                </c:pt>
                <c:pt idx="22">
                  <c:v>180</c:v>
                </c:pt>
                <c:pt idx="23">
                  <c:v>103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0EE-4F0C-B89F-67942431A6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683-4DAE-9BC6-5FD8EC2267E7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683-4DAE-9BC6-5FD8EC2267E7}"/>
              </c:ext>
            </c:extLst>
          </c:dPt>
          <c:dPt>
            <c:idx val="2"/>
            <c:invertIfNegative val="0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683-4DAE-9BC6-5FD8EC2267E7}"/>
              </c:ext>
            </c:extLst>
          </c:dPt>
          <c:dPt>
            <c:idx val="3"/>
            <c:invertIfNegative val="0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683-4DAE-9BC6-5FD8EC2267E7}"/>
              </c:ext>
            </c:extLst>
          </c:dPt>
          <c:dPt>
            <c:idx val="4"/>
            <c:invertIfNegative val="0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683-4DAE-9BC6-5FD8EC2267E7}"/>
              </c:ext>
            </c:extLst>
          </c:dPt>
          <c:dPt>
            <c:idx val="5"/>
            <c:invertIfNegative val="0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683-4DAE-9BC6-5FD8EC2267E7}"/>
              </c:ext>
            </c:extLst>
          </c:dPt>
          <c:dPt>
            <c:idx val="6"/>
            <c:invertIfNegative val="0"/>
            <c:bubble3D val="0"/>
            <c:spPr>
              <a:solidFill>
                <a:srgbClr val="F4A0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683-4DAE-9BC6-5FD8EC2267E7}"/>
              </c:ext>
            </c:extLst>
          </c:dPt>
          <c:dPt>
            <c:idx val="7"/>
            <c:invertIfNegative val="0"/>
            <c:bubble3D val="0"/>
            <c:spPr>
              <a:solidFill>
                <a:srgbClr val="F4A0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683-4DAE-9BC6-5FD8EC2267E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SuperSports LE</c:v>
                </c:pt>
                <c:pt idx="1">
                  <c:v>ICC Cricket 2011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 Blitz</c:v>
                </c:pt>
                <c:pt idx="5">
                  <c:v>Africa Magic</c:v>
                </c:pt>
                <c:pt idx="6">
                  <c:v>Cartoon Network</c:v>
                </c:pt>
                <c:pt idx="7">
                  <c:v>Boomerang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1664</c:v>
                </c:pt>
                <c:pt idx="1">
                  <c:v>1465</c:v>
                </c:pt>
                <c:pt idx="2">
                  <c:v>1050</c:v>
                </c:pt>
                <c:pt idx="3">
                  <c:v>952</c:v>
                </c:pt>
                <c:pt idx="4">
                  <c:v>896</c:v>
                </c:pt>
                <c:pt idx="5">
                  <c:v>859</c:v>
                </c:pt>
                <c:pt idx="6">
                  <c:v>793</c:v>
                </c:pt>
                <c:pt idx="7">
                  <c:v>714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D683-4DAE-9BC6-5FD8EC2267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1628"/>
                </a:solidFill>
                <a:latin typeface="Arial"/>
              </a:rPr>
              <a:t>Avg Session Duration (min)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Duration (min)</c:v>
                </c:pt>
              </c:strCache>
            </c:strRef>
          </c:tx>
          <c:spPr>
            <a:solidFill>
              <a:srgbClr val="F4A02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4A0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824-4A02-BD4C-63BF6492F7A0}"/>
              </c:ext>
            </c:extLst>
          </c:dPt>
          <c:dPt>
            <c:idx val="1"/>
            <c:invertIfNegative val="0"/>
            <c:bubble3D val="0"/>
            <c:spPr>
              <a:solidFill>
                <a:srgbClr val="F4A0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824-4A02-BD4C-63BF6492F7A0}"/>
              </c:ext>
            </c:extLst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824-4A02-BD4C-63BF6492F7A0}"/>
              </c:ext>
            </c:extLst>
          </c:dPt>
          <c:dPt>
            <c:idx val="3"/>
            <c:invertIfNegative val="0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824-4A02-BD4C-63BF6492F7A0}"/>
              </c:ext>
            </c:extLst>
          </c:dPt>
          <c:dPt>
            <c:idx val="4"/>
            <c:invertIfNegative val="0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824-4A02-BD4C-63BF6492F7A0}"/>
              </c:ext>
            </c:extLst>
          </c:dPt>
          <c:dPt>
            <c:idx val="5"/>
            <c:invertIfNegative val="0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824-4A02-BD4C-63BF6492F7A0}"/>
              </c:ext>
            </c:extLst>
          </c:dPt>
          <c:dPt>
            <c:idx val="6"/>
            <c:invertIfNegative val="0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824-4A02-BD4C-63BF6492F7A0}"/>
              </c:ext>
            </c:extLst>
          </c:dPt>
          <c:dPt>
            <c:idx val="7"/>
            <c:invertIfNegative val="0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824-4A02-BD4C-63BF6492F7A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ICC Cricket 2011</c:v>
                </c:pt>
                <c:pt idx="1">
                  <c:v>Trace TV</c:v>
                </c:pt>
                <c:pt idx="2">
                  <c:v>SuperSports LE</c:v>
                </c:pt>
                <c:pt idx="3">
                  <c:v>Channel O</c:v>
                </c:pt>
                <c:pt idx="4">
                  <c:v>CNN</c:v>
                </c:pt>
                <c:pt idx="5">
                  <c:v>Boomerang</c:v>
                </c:pt>
                <c:pt idx="6">
                  <c:v>SuperSport Blitz</c:v>
                </c:pt>
                <c:pt idx="7">
                  <c:v>E! Entertainment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16.899999999999999</c:v>
                </c:pt>
                <c:pt idx="1">
                  <c:v>12.1</c:v>
                </c:pt>
                <c:pt idx="2">
                  <c:v>11.3</c:v>
                </c:pt>
                <c:pt idx="3">
                  <c:v>11</c:v>
                </c:pt>
                <c:pt idx="4">
                  <c:v>8.1</c:v>
                </c:pt>
                <c:pt idx="5">
                  <c:v>6.2</c:v>
                </c:pt>
                <c:pt idx="6">
                  <c:v>6.1</c:v>
                </c:pt>
                <c:pt idx="7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824-4A02-BD4C-63BF6492F7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0A1628"/>
                </a:solidFill>
                <a:latin typeface="Arial"/>
              </a:rPr>
              <a:t>User Count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559-4677-8FB9-95479E0D45DC}"/>
              </c:ext>
            </c:extLst>
          </c:dPt>
          <c:dPt>
            <c:idx val="1"/>
            <c:invertIfNegative val="0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559-4677-8FB9-95479E0D45DC}"/>
              </c:ext>
            </c:extLst>
          </c:dPt>
          <c:dPt>
            <c:idx val="2"/>
            <c:invertIfNegative val="0"/>
            <c:bubble3D val="0"/>
            <c:spPr>
              <a:solidFill>
                <a:srgbClr val="F4A0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559-4677-8FB9-95479E0D45DC}"/>
              </c:ext>
            </c:extLst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559-4677-8FB9-95479E0D45DC}"/>
              </c:ext>
            </c:extLst>
          </c:dPt>
          <c:dPt>
            <c:idx val="4"/>
            <c:invertIfNegative val="0"/>
            <c:bubble3D val="0"/>
            <c:spPr>
              <a:solidFill>
                <a:srgbClr val="A8C8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559-4677-8FB9-95479E0D45DC}"/>
              </c:ext>
            </c:extLst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559-4677-8FB9-95479E0D45DC}"/>
              </c:ext>
            </c:extLst>
          </c:dPt>
          <c:dPt>
            <c:idx val="6"/>
            <c:invertIfNegative val="0"/>
            <c:bubble3D val="0"/>
            <c:spPr>
              <a:solidFill>
                <a:srgbClr val="D1D5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559-4677-8FB9-95479E0D45D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A162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Youth
(20-35)</c:v>
                </c:pt>
                <c:pt idx="1">
                  <c:v>Adults
(36-50)</c:v>
                </c:pt>
                <c:pt idx="2">
                  <c:v>Infants
(0)</c:v>
                </c:pt>
                <c:pt idx="3">
                  <c:v>Teens
(13-19)</c:v>
                </c:pt>
                <c:pt idx="4">
                  <c:v>Seniors
(51-65)</c:v>
                </c:pt>
                <c:pt idx="5">
                  <c:v>Kids
(1-12)</c:v>
                </c:pt>
                <c:pt idx="6">
                  <c:v>Pensioners
(65+)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5901</c:v>
                </c:pt>
                <c:pt idx="1">
                  <c:v>3015</c:v>
                </c:pt>
                <c:pt idx="2">
                  <c:v>1005</c:v>
                </c:pt>
                <c:pt idx="3">
                  <c:v>460</c:v>
                </c:pt>
                <c:pt idx="4">
                  <c:v>458</c:v>
                </c:pt>
                <c:pt idx="5">
                  <c:v>102</c:v>
                </c:pt>
                <c:pt idx="6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559-4677-8FB9-95479E0D45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1628"/>
                </a:solidFill>
                <a:latin typeface="Arial"/>
              </a:rPr>
              <a:t>Gender Split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393-40CE-B5FA-FE6B2A78A0C0}"/>
              </c:ext>
            </c:extLst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393-40CE-B5FA-FE6B2A78A0C0}"/>
              </c:ext>
            </c:extLst>
          </c:dPt>
          <c:dPt>
            <c:idx val="2"/>
            <c:bubble3D val="0"/>
            <c:spPr>
              <a:solidFill>
                <a:srgbClr val="D1D5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393-40CE-B5FA-FE6B2A78A0C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393-40CE-B5FA-FE6B2A78A0C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93-40CE-B5FA-FE6B2A78A0C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393-40CE-B5FA-FE6B2A78A0C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Unknown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3918</c:v>
                </c:pt>
                <c:pt idx="1">
                  <c:v>537</c:v>
                </c:pt>
                <c:pt idx="2">
                  <c:v>920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393-40CE-B5FA-FE6B2A78A0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1628"/>
                </a:solidFill>
                <a:latin typeface="Arial"/>
              </a:rPr>
              <a:t>Race Profile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E23-46D0-8C2D-DFE034B368D0}"/>
              </c:ext>
            </c:extLst>
          </c:dPt>
          <c:dPt>
            <c:idx val="1"/>
            <c:bubble3D val="0"/>
            <c:spPr>
              <a:solidFill>
                <a:srgbClr val="F4A0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E23-46D0-8C2D-DFE034B368D0}"/>
              </c:ext>
            </c:extLst>
          </c:dPt>
          <c:dPt>
            <c:idx val="2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E23-46D0-8C2D-DFE034B368D0}"/>
              </c:ext>
            </c:extLst>
          </c:dPt>
          <c:dPt>
            <c:idx val="3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E23-46D0-8C2D-DFE034B368D0}"/>
              </c:ext>
            </c:extLst>
          </c:dPt>
          <c:dPt>
            <c:idx val="4"/>
            <c:bubble3D val="0"/>
            <c:spPr>
              <a:solidFill>
                <a:srgbClr val="D1D5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E23-46D0-8C2D-DFE034B368D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E23-46D0-8C2D-DFE034B368D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E23-46D0-8C2D-DFE034B368D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E23-46D0-8C2D-DFE034B368D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E23-46D0-8C2D-DFE034B368D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E23-46D0-8C2D-DFE034B368D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Black</c:v>
                </c:pt>
                <c:pt idx="1">
                  <c:v>Indian/Asian</c:v>
                </c:pt>
                <c:pt idx="2">
                  <c:v>White</c:v>
                </c:pt>
                <c:pt idx="3">
                  <c:v>Coloured</c:v>
                </c:pt>
                <c:pt idx="4">
                  <c:v>Unknown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1811</c:v>
                </c:pt>
                <c:pt idx="1">
                  <c:v>768</c:v>
                </c:pt>
                <c:pt idx="2">
                  <c:v>760</c:v>
                </c:pt>
                <c:pt idx="3">
                  <c:v>679</c:v>
                </c:pt>
                <c:pt idx="4">
                  <c:v>557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E23-46D0-8C2D-DFE034B368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1628"/>
                </a:solidFill>
                <a:latin typeface="Arial"/>
              </a:rPr>
              <a:t>Users by Province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63E-467B-8A32-8A9BCC96E574}"/>
              </c:ext>
            </c:extLst>
          </c:dPt>
          <c:dPt>
            <c:idx val="1"/>
            <c:invertIfNegative val="0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63E-467B-8A32-8A9BCC96E574}"/>
              </c:ext>
            </c:extLst>
          </c:dPt>
          <c:dPt>
            <c:idx val="2"/>
            <c:invertIfNegative val="0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63E-467B-8A32-8A9BCC96E574}"/>
              </c:ext>
            </c:extLst>
          </c:dPt>
          <c:dPt>
            <c:idx val="3"/>
            <c:invertIfNegative val="0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63E-467B-8A32-8A9BCC96E574}"/>
              </c:ext>
            </c:extLst>
          </c:dPt>
          <c:dPt>
            <c:idx val="4"/>
            <c:invertIfNegative val="0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63E-467B-8A32-8A9BCC96E574}"/>
              </c:ext>
            </c:extLst>
          </c:dPt>
          <c:dPt>
            <c:idx val="5"/>
            <c:invertIfNegative val="0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63E-467B-8A32-8A9BCC96E574}"/>
              </c:ext>
            </c:extLst>
          </c:dPt>
          <c:dPt>
            <c:idx val="6"/>
            <c:invertIfNegative val="0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63E-467B-8A32-8A9BCC96E574}"/>
              </c:ext>
            </c:extLst>
          </c:dPt>
          <c:dPt>
            <c:idx val="7"/>
            <c:invertIfNegative val="0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63E-467B-8A32-8A9BCC96E57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Gauteng</c:v>
                </c:pt>
                <c:pt idx="1">
                  <c:v>Western Cape</c:v>
                </c:pt>
                <c:pt idx="2">
                  <c:v>KwaZulu-Natal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North West</c:v>
                </c:pt>
                <c:pt idx="7">
                  <c:v>Free State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1704</c:v>
                </c:pt>
                <c:pt idx="1">
                  <c:v>791</c:v>
                </c:pt>
                <c:pt idx="2">
                  <c:v>481</c:v>
                </c:pt>
                <c:pt idx="3">
                  <c:v>421</c:v>
                </c:pt>
                <c:pt idx="4">
                  <c:v>368</c:v>
                </c:pt>
                <c:pt idx="5">
                  <c:v>287</c:v>
                </c:pt>
                <c:pt idx="6">
                  <c:v>161</c:v>
                </c:pt>
                <c:pt idx="7">
                  <c:v>156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63E-467B-8A32-8A9BCC96E5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8253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presents a full data-driven analysis of BrightTV's viewership data from Q1 2016. Walk through each section and let the insights drive the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 the 8 business questions this analysis will answer. Each ties back to the CEO's core objectives: understand your users, explain consumption patterns, fix low-consumption days, and grow the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1: We begin by profiling our users and understanding overall usage patterns. Q1-Q3 are answered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Jan: 2,203 | Feb: 2,976 | Mar: 4,821 — a 119% increase. March spike likely driven by ICC Cricket World Cup content attracting sports audiences. Opportunity: replicate event-based programming to drive spikes.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Monday is the weakest day at 974 sessions. Saturday peaks at 1,655. The weekend gets 31% of sessions despite being only 2/7 days. Recommendation: push Monday-specific content campaigns.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Peak viewing runs from 08:00 to 18:00, with the 13:00–17:00 afternoon block being the sweet spot. Overnight hours (01–03) are the quietest. Scheduling premium content in the afternoon maximises 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2: Factors influencing consumption — channel appeal, demographics, geography. Answers Q4–Q6.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SuperSports Live Events leads in session volume (1,664). ICC Cricket holds the longest average session at 16.9 minutes. This proves sports content is BrightTV's most powerful engagement lever.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Youth (20-35) are the largest segment at 5,901. Male viewers dominate at 73%. Black South Africans form the largest racial group at 39%. Gauteng accounts for 32% of all users — clear geographic concentration.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3: Content recommendations specifically for Monday and other low-consumption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content levers for Monday uplift: Sports (proven 17-min avg session), Drama series (habit-forming), Family (multi-demographic), Music/Culture (youth alignment). Bundle these as the 'BrightTV Monday Package' to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4: Growth initiatives targeting underserved demographics and geographies. Answers Q8.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growth levers: Female audience expansion, provincial geographic push, social media activation (89% have handles), kids/teen strategy, sports-driven subscriptions, and email re-engagement. Each is backed directly by data in the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confidence. The data tells a clear story: momentum is there, Monday is the opportunity, sports and youth are the anchors, and untapped demographics offer the next growth wave.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36576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BRIGHT TV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Viewership Analytics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Strategic Growth Insights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645920" cy="45720"/>
          </a:xfrm>
          <a:prstGeom prst="rect">
            <a:avLst/>
          </a:prstGeom>
          <a:solidFill>
            <a:srgbClr val="F4A024"/>
          </a:solidFill>
          <a:ln w="12700">
            <a:solidFill>
              <a:srgbClr val="F4A0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data-driven narrative on user behaviour, content preferences &amp; growth opportunities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024"/>
                </a:solidFill>
              </a:rPr>
              <a:t>10,000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4645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D8"/>
                </a:solidFill>
              </a:rPr>
              <a:t>Sessions Analysed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4251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024"/>
                </a:solidFill>
              </a:rPr>
              <a:t>5,375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51760" y="4645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D8"/>
                </a:solidFill>
              </a:rPr>
              <a:t>User Profiles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4251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024"/>
                </a:solidFill>
              </a:rPr>
              <a:t>21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46320" y="4645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D8"/>
                </a:solidFill>
              </a:rPr>
              <a:t>Channels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0" y="4251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024"/>
                </a:solidFill>
              </a:rPr>
              <a:t>Q1 2016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40880" y="4645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D8"/>
                </a:solidFill>
              </a:rPr>
              <a:t>Data Period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" y="320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" y="804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C8D8"/>
                </a:solidFill>
              </a:rPr>
              <a:t>What we will cover today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371600"/>
            <a:ext cx="2560320" cy="566928"/>
          </a:xfrm>
          <a:prstGeom prst="roundRect">
            <a:avLst>
              <a:gd name="adj" fmla="val 967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4630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142646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024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13232" y="16367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User &amp; Usage Trends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2880" y="2084832"/>
            <a:ext cx="2560320" cy="566928"/>
          </a:xfrm>
          <a:prstGeom prst="roundRect">
            <a:avLst>
              <a:gd name="adj" fmla="val 967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17627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" y="21396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024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13232" y="2350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Consumption Drivers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82880" y="2798064"/>
            <a:ext cx="2560320" cy="566928"/>
          </a:xfrm>
          <a:prstGeom prst="roundRect">
            <a:avLst>
              <a:gd name="adj" fmla="val 967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288950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3232" y="28529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024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713232" y="3063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Content Recommendations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182880" y="3511296"/>
            <a:ext cx="2560320" cy="566928"/>
          </a:xfrm>
          <a:prstGeom prst="roundRect">
            <a:avLst>
              <a:gd name="adj" fmla="val 967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08" y="36027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" y="35661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024"/>
                </a:solidFill>
              </a:rPr>
              <a:t>04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713232" y="3776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Growth Initiatives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182880" y="4224528"/>
            <a:ext cx="2560320" cy="566928"/>
          </a:xfrm>
          <a:prstGeom prst="roundRect">
            <a:avLst>
              <a:gd name="adj" fmla="val 967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4315968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3232" y="42793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024"/>
                </a:solidFill>
              </a:rPr>
              <a:t>05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713232" y="44897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SQL &amp; Technical Appendix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3200400" y="2743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KEY BUSINESS QUESTIONS</a:t>
            </a:r>
            <a:endParaRPr lang="en-US" sz="1800" dirty="0"/>
          </a:p>
        </p:txBody>
      </p:sp>
      <p:sp>
        <p:nvSpPr>
          <p:cNvPr id="26" name="Shape 19"/>
          <p:cNvSpPr/>
          <p:nvPr/>
        </p:nvSpPr>
        <p:spPr>
          <a:xfrm>
            <a:off x="3200400" y="658368"/>
            <a:ext cx="1645920" cy="36576"/>
          </a:xfrm>
          <a:prstGeom prst="rect">
            <a:avLst/>
          </a:prstGeom>
          <a:solidFill>
            <a:srgbClr val="F4A024"/>
          </a:solidFill>
          <a:ln w="12700">
            <a:solidFill>
              <a:srgbClr val="F4A0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3200400" y="868680"/>
            <a:ext cx="56692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3218688" y="905256"/>
            <a:ext cx="320040" cy="347472"/>
          </a:xfrm>
          <a:prstGeom prst="roundRect">
            <a:avLst>
              <a:gd name="adj" fmla="val 1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3218688" y="90525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611880" y="923544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How have monthly viewing sessions trended across Q1 2016?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3200400" y="1380744"/>
            <a:ext cx="56692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3218688" y="1417320"/>
            <a:ext cx="320040" cy="347472"/>
          </a:xfrm>
          <a:prstGeom prst="roundRect">
            <a:avLst>
              <a:gd name="adj" fmla="val 11429"/>
            </a:avLst>
          </a:prstGeom>
          <a:solidFill>
            <a:srgbClr val="F4A024"/>
          </a:solidFill>
          <a:ln w="12700">
            <a:solidFill>
              <a:srgbClr val="F4A0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/>
          <p:nvPr/>
        </p:nvSpPr>
        <p:spPr>
          <a:xfrm>
            <a:off x="3218688" y="14173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3611880" y="1435608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Which days of the week drive the most and least consumption?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3200400" y="1892808"/>
            <a:ext cx="56692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3218688" y="1929384"/>
            <a:ext cx="320040" cy="347472"/>
          </a:xfrm>
          <a:prstGeom prst="roundRect">
            <a:avLst>
              <a:gd name="adj" fmla="val 1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3218688" y="192938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3611880" y="1947672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What time-of-day patterns dominate viewing behaviour?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3200400" y="2404872"/>
            <a:ext cx="56692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3218688" y="2441448"/>
            <a:ext cx="320040" cy="347472"/>
          </a:xfrm>
          <a:prstGeom prst="roundRect">
            <a:avLst>
              <a:gd name="adj" fmla="val 11429"/>
            </a:avLst>
          </a:prstGeom>
          <a:solidFill>
            <a:srgbClr val="F4A024"/>
          </a:solidFill>
          <a:ln w="12700">
            <a:solidFill>
              <a:srgbClr val="F4A0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3218688" y="244144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3611880" y="2459736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Which channels attract the most sessions and longest engagement?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3200400" y="2916936"/>
            <a:ext cx="56692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3218688" y="2953512"/>
            <a:ext cx="320040" cy="347472"/>
          </a:xfrm>
          <a:prstGeom prst="roundRect">
            <a:avLst>
              <a:gd name="adj" fmla="val 1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/>
          <p:nvPr/>
        </p:nvSpPr>
        <p:spPr>
          <a:xfrm>
            <a:off x="3218688" y="29535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6" name="Text 39"/>
          <p:cNvSpPr/>
          <p:nvPr/>
        </p:nvSpPr>
        <p:spPr>
          <a:xfrm>
            <a:off x="3611880" y="2971800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How does demographic profile (age, gender, race) shape viewing?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3200400" y="3429000"/>
            <a:ext cx="56692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1"/>
          <p:cNvSpPr/>
          <p:nvPr/>
        </p:nvSpPr>
        <p:spPr>
          <a:xfrm>
            <a:off x="3218688" y="3465576"/>
            <a:ext cx="320040" cy="347472"/>
          </a:xfrm>
          <a:prstGeom prst="roundRect">
            <a:avLst>
              <a:gd name="adj" fmla="val 11429"/>
            </a:avLst>
          </a:prstGeom>
          <a:solidFill>
            <a:srgbClr val="F4A024"/>
          </a:solidFill>
          <a:ln w="12700">
            <a:solidFill>
              <a:srgbClr val="F4A0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2"/>
          <p:cNvSpPr/>
          <p:nvPr/>
        </p:nvSpPr>
        <p:spPr>
          <a:xfrm>
            <a:off x="3218688" y="346557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50" name="Text 43"/>
          <p:cNvSpPr/>
          <p:nvPr/>
        </p:nvSpPr>
        <p:spPr>
          <a:xfrm>
            <a:off x="3611880" y="3483864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Which provinces are the largest viewer bases?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3200400" y="3941064"/>
            <a:ext cx="56692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45"/>
          <p:cNvSpPr/>
          <p:nvPr/>
        </p:nvSpPr>
        <p:spPr>
          <a:xfrm>
            <a:off x="3218688" y="3977640"/>
            <a:ext cx="320040" cy="347472"/>
          </a:xfrm>
          <a:prstGeom prst="roundRect">
            <a:avLst>
              <a:gd name="adj" fmla="val 1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6"/>
          <p:cNvSpPr/>
          <p:nvPr/>
        </p:nvSpPr>
        <p:spPr>
          <a:xfrm>
            <a:off x="3218688" y="397764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54" name="Text 47"/>
          <p:cNvSpPr/>
          <p:nvPr/>
        </p:nvSpPr>
        <p:spPr>
          <a:xfrm>
            <a:off x="3611880" y="3995928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What content performs best on low-consumption days?</a:t>
            </a:r>
            <a:endParaRPr lang="en-US" sz="1050" dirty="0"/>
          </a:p>
        </p:txBody>
      </p:sp>
      <p:sp>
        <p:nvSpPr>
          <p:cNvPr id="55" name="Shape 48"/>
          <p:cNvSpPr/>
          <p:nvPr/>
        </p:nvSpPr>
        <p:spPr>
          <a:xfrm>
            <a:off x="3200400" y="4453128"/>
            <a:ext cx="56692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49"/>
          <p:cNvSpPr/>
          <p:nvPr/>
        </p:nvSpPr>
        <p:spPr>
          <a:xfrm>
            <a:off x="3218688" y="4489704"/>
            <a:ext cx="320040" cy="347472"/>
          </a:xfrm>
          <a:prstGeom prst="roundRect">
            <a:avLst>
              <a:gd name="adj" fmla="val 11429"/>
            </a:avLst>
          </a:prstGeom>
          <a:solidFill>
            <a:srgbClr val="F4A024"/>
          </a:solidFill>
          <a:ln w="12700">
            <a:solidFill>
              <a:srgbClr val="F4A0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0"/>
          <p:cNvSpPr/>
          <p:nvPr/>
        </p:nvSpPr>
        <p:spPr>
          <a:xfrm>
            <a:off x="3218688" y="448970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58" name="Text 51"/>
          <p:cNvSpPr/>
          <p:nvPr/>
        </p:nvSpPr>
        <p:spPr>
          <a:xfrm>
            <a:off x="3611880" y="4507992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What user segments offer the greatest growth potential?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73152" cy="2286000"/>
          </a:xfrm>
          <a:prstGeom prst="rect">
            <a:avLst/>
          </a:prstGeom>
          <a:solidFill>
            <a:srgbClr val="F4A024"/>
          </a:solidFill>
          <a:ln w="12700">
            <a:solidFill>
              <a:srgbClr val="F4A0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&amp;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 Trends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8D8"/>
                </a:solidFill>
              </a:rPr>
              <a:t>Understanding who watches BrightTV and when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6459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Q1 – Monthly Viewing Sessions Trend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024"/>
                </a:solidFill>
              </a:rPr>
              <a:t>10,000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Total Sessions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4264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D8"/>
                </a:solidFill>
              </a:rPr>
              <a:t>Q1 2016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6400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7132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024"/>
                </a:solidFill>
              </a:rPr>
              <a:t>+119%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0" y="11887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Jan → Mar Growth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14264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D8"/>
                </a:solidFill>
              </a:rPr>
              <a:t>Sessions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6400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7132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024"/>
                </a:solidFill>
              </a:rPr>
              <a:t>333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11887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Avg Sessions/Day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4264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D8"/>
                </a:solidFill>
              </a:rPr>
              <a:t>Across Q1</a:t>
            </a:r>
            <a:endParaRPr lang="en-US" sz="9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274320" y="1783080"/>
          <a:ext cx="530352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5760720" y="1783080"/>
            <a:ext cx="3108960" cy="3154680"/>
          </a:xfrm>
          <a:prstGeom prst="roundRect">
            <a:avLst>
              <a:gd name="adj" fmla="val 2941"/>
            </a:avLst>
          </a:prstGeom>
          <a:solidFill>
            <a:srgbClr val="EEF6FA"/>
          </a:solidFill>
          <a:ln w="1270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92024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4652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852160" y="2423160"/>
            <a:ext cx="2926080" cy="2331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March dominated with 4,821 sessions — 119% more than January's 2,203.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Strong upward trajectory suggests growing audience engagement.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February bridged growth, indicating possible mid-quarter content push.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Platform is gaining momentum — scale up marketing in line with growth.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Q2 – Day-of-Week Consumption Patterns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40080"/>
          <a:ext cx="5486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760720" y="594360"/>
          <a:ext cx="31089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760720" y="301752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76072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Lowest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760720" y="3319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Monday: 974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760720" y="3584448"/>
            <a:ext cx="14630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9.7% of weekly sessions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7360920" y="301752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36092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Highest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360920" y="3319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Saturday: 1,655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360920" y="3584448"/>
            <a:ext cx="14630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16.6% of weekly sessions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74320" y="4114800"/>
            <a:ext cx="8595360" cy="777240"/>
          </a:xfrm>
          <a:prstGeom prst="roundRect">
            <a:avLst>
              <a:gd name="adj" fmla="val 9412"/>
            </a:avLst>
          </a:prstGeom>
          <a:solidFill>
            <a:srgbClr val="EEF6FA"/>
          </a:solidFill>
          <a:ln w="1270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57200" y="4160520"/>
            <a:ext cx="83210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1628"/>
                </a:solidFill>
              </a:rPr>
              <a:t>⚡ Strategy: Monday's low consumption (974 sessions) is the clear pain point. Weekend engagement is strong — replicate weekend content strategy (live events, sport, entertainment) on Mondays to lift the floor.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Q3 – Hour-of-Day Viewing Patterns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594360"/>
          <a:ext cx="8595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913632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39593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🌙 Off-Peak (00–05)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74320" y="426110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403 sessions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450592" y="3913632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450592" y="39593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🌅 Morning (06–11)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450592" y="426110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3,085 sessions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26864" y="3913632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4A024"/>
          </a:solidFill>
          <a:ln w="12700">
            <a:solidFill>
              <a:srgbClr val="F4A0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26864" y="39593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☀️ Afternoon (12–17)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626864" y="426110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3,807 sessions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03136" y="3913632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03136" y="39593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🌆 Evening (18–23)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03136" y="426110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2,252 sessions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5943600" cy="59436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4A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73152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Factors That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Influence Consumption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794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C8D8"/>
                </a:solidFill>
              </a:rPr>
              <a:t>Channel preferences, demographics &amp; engagement depth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73736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Q4 – Channel Performance: Sessions &amp; Engagement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59436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669280" y="594360"/>
          <a:ext cx="32918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88620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FFF8E7"/>
          </a:solidFill>
          <a:ln w="12700">
            <a:solidFill>
              <a:srgbClr val="F4D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11480" y="3931920"/>
            <a:ext cx="8321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💡 Insight: Sports content (SuperSports Live Events, ICC Cricket) dominates both volume and engagement depth. ICC Cricket holds viewers for ~17 minutes per session — 3× longer than entertainment channels. Sports is the #1 consumption driver.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Q5 &amp; Q6 – Demographics &amp; Geographic Reach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594360"/>
          <a:ext cx="41148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480560" y="594360"/>
          <a:ext cx="23774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6903720" y="594360"/>
          <a:ext cx="201168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Chart 3"/>
          <p:cNvGraphicFramePr/>
          <p:nvPr/>
        </p:nvGraphicFramePr>
        <p:xfrm>
          <a:off x="274320" y="3310128"/>
          <a:ext cx="859536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1828800"/>
            <a:ext cx="7315200" cy="7315200"/>
          </a:xfrm>
          <a:prstGeom prst="ellipse">
            <a:avLst/>
          </a:prstGeom>
          <a:solidFill>
            <a:srgbClr val="F4A024">
              <a:alpha val="7000"/>
            </a:srgbClr>
          </a:solidFill>
          <a:ln w="12700">
            <a:solidFill>
              <a:srgbClr val="F4A02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4A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73152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794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C8D8"/>
                </a:solidFill>
              </a:rPr>
              <a:t>Boosting consumption on low-engagement days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73736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Q7 – Content Strategy for Low-Consumption Days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8595360" cy="594360"/>
          </a:xfrm>
          <a:prstGeom prst="roundRect">
            <a:avLst>
              <a:gd name="adj" fmla="val 1076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</a:rPr>
              <a:t>🔴  Monday is BrightTV's lowest viewing day (974 sessions — 41% below Saturday). Sunday trails as second-lowest. These represent the greatest opportunity for targeted content programming.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251960" cy="1737360"/>
          </a:xfrm>
          <a:prstGeom prst="roundRect">
            <a:avLst>
              <a:gd name="adj" fmla="val 5263"/>
            </a:avLst>
          </a:prstGeom>
          <a:solidFill>
            <a:srgbClr val="EEF6FA"/>
          </a:solidFill>
          <a:ln w="12700">
            <a:solidFill>
              <a:srgbClr val="D1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371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Monday Sports Kick-Off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938528"/>
            <a:ext cx="4023360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Live sports replays &amp; highlights (SuperSports, SuperSport Blitz)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Weekly sports previews — build anticipation for midweek fixtures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Football/cricket panel shows — drives return viewing habit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Data: Sports content averages 11–17 min sessions, highest on platform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280160"/>
            <a:ext cx="4251960" cy="1737360"/>
          </a:xfrm>
          <a:prstGeom prst="roundRect">
            <a:avLst>
              <a:gd name="adj" fmla="val 5263"/>
            </a:avLst>
          </a:prstGeom>
          <a:solidFill>
            <a:srgbClr val="EEF6FA"/>
          </a:solidFill>
          <a:ln w="12700">
            <a:solidFill>
              <a:srgbClr val="D1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13716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371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Monday Drama &amp; Series Block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938528"/>
            <a:ext cx="4023360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Africa Magic &amp; M-Net: premiere new drama episodes on Mondays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Serialised storytelling creates habitual weekly tune-in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Target Youth (20–35) with local drama content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Introduce 'Monday Premiere' brand identity across channels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154680"/>
            <a:ext cx="4251960" cy="1737360"/>
          </a:xfrm>
          <a:prstGeom prst="roundRect">
            <a:avLst>
              <a:gd name="adj" fmla="val 5263"/>
            </a:avLst>
          </a:prstGeom>
          <a:solidFill>
            <a:srgbClr val="EEF6FA"/>
          </a:solidFill>
          <a:ln w="12700">
            <a:solidFill>
              <a:srgbClr val="D1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4A024"/>
          </a:solidFill>
          <a:ln w="12700">
            <a:solidFill>
              <a:srgbClr val="F4A0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246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Family &amp; Kids Monday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813048"/>
            <a:ext cx="4023360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Boomerang &amp; Cartoon Network family content from 16:00–20:00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Targets Adults (parents) + Infants/Kids segments simultaneously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After-school programming block 15:00–18:00 to capture school return traffic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Family-friendly content builds brand trust with households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251960" cy="1737360"/>
          </a:xfrm>
          <a:prstGeom prst="roundRect">
            <a:avLst>
              <a:gd name="adj" fmla="val 5263"/>
            </a:avLst>
          </a:prstGeom>
          <a:solidFill>
            <a:srgbClr val="EEF6FA"/>
          </a:solidFill>
          <a:ln w="12700">
            <a:solidFill>
              <a:srgbClr val="D1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32461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3246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Music &amp; Culture Night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813048"/>
            <a:ext cx="4023360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Trace TV &amp; Channel O: exclusive Monday music shows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Align with audience: Black SA viewers (39%) align with Afrobeat/Channel O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Weekend music highlights replayed on Monday for working-week viewers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MK channel: curated urban/youth playlists for 18–25 age band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6400800" cy="64008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73152" cy="2286000"/>
          </a:xfrm>
          <a:prstGeom prst="rect">
            <a:avLst/>
          </a:prstGeom>
          <a:solidFill>
            <a:srgbClr val="F4A024"/>
          </a:solidFill>
          <a:ln w="12700">
            <a:solidFill>
              <a:srgbClr val="F4A0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Initiatives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77240" y="3794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C8D8"/>
                </a:solidFill>
              </a:rPr>
              <a:t>Expanding BrightTV's subscriber base strategically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73736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Q8 – Strategic Growth Initiatives for BrightTV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2816352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73152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731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731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Female Audience Expansion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307592"/>
            <a:ext cx="2606040" cy="12618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Female viewers are only 10% of users vs 73% male. Launch targeted campaigns for women: telenovelas, lifestyle content, reality TV. Partner with female influencers on Social Media (89% have SM handles) to drive acquisition. Goal: +5% female share = +270 users.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18688" y="621792"/>
            <a:ext cx="2816352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28416" y="73152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28416" y="731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04488" y="731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Provincial Geographic Push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28416" y="1307592"/>
            <a:ext cx="2606040" cy="12618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Gauteng dominates (32%). KZN, Mpumalanga, Limpopo, and Eastern Cape are underserved. Targeted regional marketing — language-specific content (isiZulu, Setswana, Sesotho) in home provinces. DSTV Events data can support local event simulcasting.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63056" y="621792"/>
            <a:ext cx="2816352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72784" y="73152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F4A024"/>
          </a:solidFill>
          <a:ln w="12700">
            <a:solidFill>
              <a:srgbClr val="F4A0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72784" y="731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48856" y="731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Social Media Activation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72784" y="1307592"/>
            <a:ext cx="2606040" cy="12618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89% of users have social media handles. Zero current SM engagement strategy visible. Launch a '#BrightTV' community challenge, content reaction clips, and influencer partnerships. Use SM handle data to build lookalike audiences for paid acquisition.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798064"/>
            <a:ext cx="2816352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84048" y="290779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29077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Kids &amp; Teen Segment Strategy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4048" y="3483864"/>
            <a:ext cx="2606040" cy="12618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Kids (1-12) + Teens (13-19) = only 10% of base but a high-LTV segment. Boomerang + Cartoon Network are already popular. Build a 'BrightTV Junior' brand with dedicated blocks, parental dashboard, and school holiday specials to grow family subscriptions.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18688" y="2798064"/>
            <a:ext cx="2816352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328416" y="290779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28416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04488" y="29077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Sports-Driven Subscriber Drive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28416" y="3483864"/>
            <a:ext cx="2606040" cy="12618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Sports is the #1 content category by sessions and engagement depth. Create a 'BrightTV Sports Pack' — premium tier with live events access. Use ICC Cricket &amp; SuperSports as acquisition bait. Referral incentives: 'Bring a Friend to the Game'.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63056" y="2798064"/>
            <a:ext cx="2816352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72784" y="290779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72784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48856" y="29077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Email Re-engagement Campaign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72784" y="3483864"/>
            <a:ext cx="2606040" cy="12618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100% of users have email addresses captured. No evidence of email marketing being leveraged. Launch a weekly 'What's On BrightTV' digest. Personalise by viewing history (genre, channel). Reactivate lapsed users who haven't viewed in 30+ days.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024"/>
          </a:solidFill>
          <a:ln w="12700">
            <a:solidFill>
              <a:srgbClr val="F4A0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00B4D8">
              <a:alpha val="9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850392"/>
            <a:ext cx="1371600" cy="45720"/>
          </a:xfrm>
          <a:prstGeom prst="rect">
            <a:avLst/>
          </a:prstGeom>
          <a:solidFill>
            <a:srgbClr val="F4A024"/>
          </a:solidFill>
          <a:ln w="12700">
            <a:solidFill>
              <a:srgbClr val="F4A0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816352" cy="1783080"/>
          </a:xfrm>
          <a:prstGeom prst="roundRect">
            <a:avLst>
              <a:gd name="adj" fmla="val 5128"/>
            </a:avLst>
          </a:prstGeom>
          <a:solidFill>
            <a:srgbClr val="1E3A5F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1556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84048" y="155448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A024"/>
                </a:solidFill>
              </a:rPr>
              <a:t>Strong Growth Momentum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874520"/>
            <a:ext cx="2596896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D8"/>
                </a:solidFill>
              </a:rPr>
              <a:t>Sessions grew 119% from January to March — the platform is gaining traction and needs investment to sustain it.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18688" y="1005840"/>
            <a:ext cx="2816352" cy="1783080"/>
          </a:xfrm>
          <a:prstGeom prst="roundRect">
            <a:avLst>
              <a:gd name="adj" fmla="val 5128"/>
            </a:avLst>
          </a:prstGeom>
          <a:solidFill>
            <a:srgbClr val="1E3A5F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18688" y="111556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⚽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28416" y="155448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A024"/>
                </a:solidFill>
              </a:rPr>
              <a:t>Sports is the #1 Driver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28416" y="1874520"/>
            <a:ext cx="2596896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D8"/>
                </a:solidFill>
              </a:rPr>
              <a:t>Live sports content generates the highest sessions AND the longest engagement (17 min avg). It must anchor the content strategy.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63056" y="1005840"/>
            <a:ext cx="2816352" cy="1783080"/>
          </a:xfrm>
          <a:prstGeom prst="roundRect">
            <a:avLst>
              <a:gd name="adj" fmla="val 5128"/>
            </a:avLst>
          </a:prstGeom>
          <a:solidFill>
            <a:srgbClr val="1E3A5F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63056" y="111556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72784" y="155448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A024"/>
                </a:solidFill>
              </a:rPr>
              <a:t>Monday is the Blind Spot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72784" y="1874520"/>
            <a:ext cx="2596896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D8"/>
                </a:solidFill>
              </a:rPr>
              <a:t>Monday's 974 sessions (vs 1,655 on Saturday) is the single biggest opportunity. A targeted Monday content calendar can close this gap.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2816352" cy="1783080"/>
          </a:xfrm>
          <a:prstGeom prst="roundRect">
            <a:avLst>
              <a:gd name="adj" fmla="val 5128"/>
            </a:avLst>
          </a:prstGeom>
          <a:solidFill>
            <a:srgbClr val="1E3A5F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303580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84048" y="347472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A024"/>
                </a:solidFill>
              </a:rPr>
              <a:t>Underserved Segments Exist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4048" y="3794760"/>
            <a:ext cx="2596896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D8"/>
                </a:solidFill>
              </a:rPr>
              <a:t>Female users (10%), Teens/Kids (10%), and non-Gauteng provinces (68%) are significantly underrepresented growth pools.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18688" y="2926080"/>
            <a:ext cx="2816352" cy="1783080"/>
          </a:xfrm>
          <a:prstGeom prst="roundRect">
            <a:avLst>
              <a:gd name="adj" fmla="val 5128"/>
            </a:avLst>
          </a:prstGeom>
          <a:solidFill>
            <a:srgbClr val="1E3A5F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18688" y="303580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328416" y="347472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A024"/>
                </a:solidFill>
              </a:rPr>
              <a:t>Marketing Assets Are Untapped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28416" y="3794760"/>
            <a:ext cx="2596896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D8"/>
                </a:solidFill>
              </a:rPr>
              <a:t>100% email coverage and 89% social media penetration — these are free, high-ROI channels awaiting activation.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63056" y="2926080"/>
            <a:ext cx="2816352" cy="1783080"/>
          </a:xfrm>
          <a:prstGeom prst="roundRect">
            <a:avLst>
              <a:gd name="adj" fmla="val 5128"/>
            </a:avLst>
          </a:prstGeom>
          <a:solidFill>
            <a:srgbClr val="1E3A5F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63056" y="303580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272784" y="347472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A024"/>
                </a:solidFill>
              </a:rPr>
              <a:t>Platform is Ready to Scale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72784" y="3794760"/>
            <a:ext cx="2596896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D8"/>
                </a:solidFill>
              </a:rPr>
              <a:t>The data infrastructure exists. With the right content strategy, targeted campaigns, and provincial expansion, BrightTV can double its active base.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754880"/>
            <a:ext cx="8595360" cy="27432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</a:rPr>
              <a:t>BrightTV Viewership Analytics  |  Q1 2016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2586</TotalTime>
  <Words>1609</Words>
  <Application>Microsoft Office PowerPoint</Application>
  <PresentationFormat>On-screen Show (16:9)</PresentationFormat>
  <Paragraphs>201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Cynthia Phakela</cp:lastModifiedBy>
  <cp:revision>1</cp:revision>
  <dcterms:created xsi:type="dcterms:W3CDTF">2026-06-28T23:32:58Z</dcterms:created>
  <dcterms:modified xsi:type="dcterms:W3CDTF">2026-06-30T18:47:30Z</dcterms:modified>
</cp:coreProperties>
</file>